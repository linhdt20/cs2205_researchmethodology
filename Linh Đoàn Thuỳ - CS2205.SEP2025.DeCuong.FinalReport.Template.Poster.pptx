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691813" cy="15117763"/>
  <p:notesSz cx="7099300" cy="10234613"/>
  <p:embeddedFontLst>
    <p:embeddedFont>
      <p:font typeface="Tahoma" panose="020B0604030504040204" pitchFamily="34" charset="0"/>
      <p:regular r:id="rId4"/>
      <p:bold r:id="rId5"/>
    </p:embeddedFont>
    <p:embeddedFont>
      <p:font typeface="Times" panose="02020603050405020304" pitchFamily="18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312">
          <p15:clr>
            <a:srgbClr val="000000"/>
          </p15:clr>
        </p15:guide>
        <p15:guide id="2" orient="horz" pos="232">
          <p15:clr>
            <a:srgbClr val="000000"/>
          </p15:clr>
        </p15:guide>
        <p15:guide id="3" orient="horz" pos="8880">
          <p15:clr>
            <a:srgbClr val="000000"/>
          </p15:clr>
        </p15:guide>
        <p15:guide id="4" pos="3366">
          <p15:clr>
            <a:srgbClr val="000000"/>
          </p15:clr>
        </p15:guide>
        <p15:guide id="5" pos="240">
          <p15:clr>
            <a:srgbClr val="000000"/>
          </p15:clr>
        </p15:guide>
        <p15:guide id="6" pos="6506">
          <p15:clr>
            <a:srgbClr val="000000"/>
          </p15:clr>
        </p15:guide>
        <p15:guide id="7" pos="3186">
          <p15:clr>
            <a:srgbClr val="000000"/>
          </p15:clr>
        </p15:guide>
        <p15:guide id="8" pos="3552">
          <p15:clr>
            <a:srgbClr val="000000"/>
          </p15:clr>
        </p15:guide>
        <p15:guide id="9" pos="6318">
          <p15:clr>
            <a:srgbClr val="000000"/>
          </p15:clr>
        </p15:guide>
        <p15:guide id="10" pos="414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698" y="259"/>
      </p:cViewPr>
      <p:guideLst>
        <p:guide orient="horz" pos="9312"/>
        <p:guide orient="horz" pos="232"/>
        <p:guide orient="horz" pos="8880"/>
        <p:guide pos="3366"/>
        <p:guide pos="240"/>
        <p:guide pos="6506"/>
        <p:guide pos="3186"/>
        <p:guide pos="3552"/>
        <p:guide pos="6318"/>
        <p:guide pos="41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97325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92337" y="773112"/>
            <a:ext cx="2700337" cy="381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848225"/>
            <a:ext cx="5210175" cy="464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97325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/>
        </p:nvSpPr>
        <p:spPr>
          <a:xfrm>
            <a:off x="3997325" y="9698037"/>
            <a:ext cx="30861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lang="en-US" sz="800" b="0" i="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fld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92338" y="773113"/>
            <a:ext cx="2700337" cy="381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962025" y="4848225"/>
            <a:ext cx="5210100" cy="46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801688" y="4695825"/>
            <a:ext cx="9088437" cy="324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1603375" y="8566150"/>
            <a:ext cx="7485063" cy="386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ctr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"/>
              <a:buNone/>
              <a:defRPr/>
            </a:lvl2pPr>
            <a:lvl3pPr lvl="2" algn="ctr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"/>
              <a:buNone/>
              <a:defRPr/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5pPr>
            <a:lvl6pPr lvl="5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6pPr>
            <a:lvl7pPr lvl="6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7pPr>
            <a:lvl8pPr lvl="7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8pPr>
            <a:lvl9pPr lvl="8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 rot="5400000">
            <a:off x="2720182" y="6244432"/>
            <a:ext cx="12068175" cy="227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 rot="5400000">
            <a:off x="-1901824" y="4046538"/>
            <a:ext cx="12068175" cy="6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 rot="5400000">
            <a:off x="807243" y="4334669"/>
            <a:ext cx="9070975" cy="908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2095500" y="10582275"/>
            <a:ext cx="6415088" cy="124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>
            <a:spLocks noGrp="1"/>
          </p:cNvSpPr>
          <p:nvPr>
            <p:ph type="pic" idx="2"/>
          </p:nvPr>
        </p:nvSpPr>
        <p:spPr>
          <a:xfrm>
            <a:off x="2095500" y="1350963"/>
            <a:ext cx="6415088" cy="90709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2095500" y="11831638"/>
            <a:ext cx="6415088" cy="177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534988" y="601663"/>
            <a:ext cx="3517900" cy="256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4179888" y="601663"/>
            <a:ext cx="5976937" cy="12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2"/>
          </p:nvPr>
        </p:nvSpPr>
        <p:spPr>
          <a:xfrm>
            <a:off x="534988" y="3163888"/>
            <a:ext cx="3517900" cy="1034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34988" y="604838"/>
            <a:ext cx="9621837" cy="252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534988" y="3384550"/>
            <a:ext cx="47244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534988" y="4794250"/>
            <a:ext cx="4724400" cy="871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3"/>
          </p:nvPr>
        </p:nvSpPr>
        <p:spPr>
          <a:xfrm>
            <a:off x="5430838" y="3384550"/>
            <a:ext cx="4725987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4"/>
          </p:nvPr>
        </p:nvSpPr>
        <p:spPr>
          <a:xfrm>
            <a:off x="5430838" y="4794250"/>
            <a:ext cx="4725987" cy="871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798513" y="4343400"/>
            <a:ext cx="4467225" cy="907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2"/>
          </p:nvPr>
        </p:nvSpPr>
        <p:spPr>
          <a:xfrm>
            <a:off x="5418138" y="4343400"/>
            <a:ext cx="4468812" cy="907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844550" y="9713913"/>
            <a:ext cx="9088438" cy="300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844550" y="6407150"/>
            <a:ext cx="9088438" cy="330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>
            <a:off x="798512" y="4343400"/>
            <a:ext cx="9088437" cy="907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360362" y="4019550"/>
            <a:ext cx="9967912" cy="100774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358775" y="368300"/>
            <a:ext cx="9969500" cy="2044700"/>
            <a:chOff x="226" y="232"/>
            <a:chExt cx="6280" cy="1288"/>
          </a:xfrm>
        </p:grpSpPr>
        <p:sp>
          <p:nvSpPr>
            <p:cNvPr id="12" name="Google Shape;12;p1"/>
            <p:cNvSpPr txBox="1"/>
            <p:nvPr/>
          </p:nvSpPr>
          <p:spPr>
            <a:xfrm>
              <a:off x="271" y="273"/>
              <a:ext cx="6189" cy="124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3" name="Google Shape;13;p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26" y="232"/>
              <a:ext cx="6280" cy="1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1"/>
          <p:cNvSpPr txBox="1"/>
          <p:nvPr/>
        </p:nvSpPr>
        <p:spPr>
          <a:xfrm>
            <a:off x="360362" y="14243050"/>
            <a:ext cx="9967912" cy="539750"/>
          </a:xfrm>
          <a:prstGeom prst="rect">
            <a:avLst/>
          </a:prstGeom>
          <a:solidFill>
            <a:srgbClr val="2EAE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7225" y="14355762"/>
            <a:ext cx="525462" cy="34766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5629275" y="2936875"/>
            <a:ext cx="4408487" cy="1979612"/>
          </a:xfrm>
          <a:prstGeom prst="roundRect">
            <a:avLst>
              <a:gd name="adj" fmla="val 16667"/>
            </a:avLst>
          </a:prstGeom>
          <a:solidFill>
            <a:srgbClr val="D1F3F3"/>
          </a:solidFill>
          <a:ln w="19050" cap="flat" cmpd="sng">
            <a:solidFill>
              <a:srgbClr val="0073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932612" y="2651125"/>
            <a:ext cx="1800225" cy="4318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73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57225" y="2936875"/>
            <a:ext cx="4408487" cy="1979612"/>
          </a:xfrm>
          <a:prstGeom prst="roundRect">
            <a:avLst>
              <a:gd name="adj" fmla="val 16667"/>
            </a:avLst>
          </a:prstGeom>
          <a:solidFill>
            <a:srgbClr val="D1F3F3"/>
          </a:solidFill>
          <a:ln w="19050" cap="flat" cmpd="sng">
            <a:solidFill>
              <a:srgbClr val="0073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60562" y="2651125"/>
            <a:ext cx="1800225" cy="4318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73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1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body" idx="1"/>
          </p:nvPr>
        </p:nvSpPr>
        <p:spPr>
          <a:xfrm>
            <a:off x="798512" y="4343400"/>
            <a:ext cx="9088437" cy="907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457200" marR="0" lvl="0" indent="-558800" algn="l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"/>
              <a:buChar char="•"/>
              <a:defRPr sz="5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marR="0" lvl="1" indent="-51435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"/>
              <a:buChar char="–"/>
              <a:defRPr sz="45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1371600" marR="0" lvl="2" indent="-476250" algn="l" rtl="0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"/>
              <a:buChar char="•"/>
              <a:defRPr sz="39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828800" marR="0" lvl="3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–"/>
              <a:defRPr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2286000" marR="0" lvl="4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743200" marR="0" lvl="5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3200400" marR="0" lvl="6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3657600" marR="0" lvl="7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4114800" marR="0" lvl="8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dt" idx="10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ftr" idx="11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sldNum" idx="12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425" tIns="73700" rIns="147425" bIns="73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sz="23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3"/>
          <p:cNvCxnSpPr/>
          <p:nvPr/>
        </p:nvCxnSpPr>
        <p:spPr>
          <a:xfrm>
            <a:off x="773112" y="5848350"/>
            <a:ext cx="9067800" cy="15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oval" w="med" len="med"/>
            <a:tailEnd type="oval" w="med" len="med"/>
          </a:ln>
        </p:spPr>
      </p:cxnSp>
      <p:grpSp>
        <p:nvGrpSpPr>
          <p:cNvPr id="101" name="Google Shape;101;p13"/>
          <p:cNvGrpSpPr/>
          <p:nvPr/>
        </p:nvGrpSpPr>
        <p:grpSpPr>
          <a:xfrm>
            <a:off x="631825" y="8059499"/>
            <a:ext cx="9448800" cy="365125"/>
            <a:chOff x="619922" y="8243888"/>
            <a:chExt cx="9448800" cy="365125"/>
          </a:xfrm>
        </p:grpSpPr>
        <p:pic>
          <p:nvPicPr>
            <p:cNvPr id="102" name="Google Shape;102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8813" y="8243888"/>
              <a:ext cx="9371018" cy="36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3"/>
            <p:cNvSpPr txBox="1"/>
            <p:nvPr/>
          </p:nvSpPr>
          <p:spPr>
            <a:xfrm>
              <a:off x="619922" y="8317877"/>
              <a:ext cx="94488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 b="1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Description</a:t>
              </a:r>
              <a:endParaRPr dirty="0"/>
            </a:p>
          </p:txBody>
        </p:sp>
      </p:grpSp>
      <p:sp>
        <p:nvSpPr>
          <p:cNvPr id="104" name="Google Shape;104;p13"/>
          <p:cNvSpPr txBox="1">
            <a:spLocks noGrp="1"/>
          </p:cNvSpPr>
          <p:nvPr>
            <p:ph type="ctrTitle"/>
          </p:nvPr>
        </p:nvSpPr>
        <p:spPr>
          <a:xfrm>
            <a:off x="403225" y="459848"/>
            <a:ext cx="9906000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HỆ THỐNG TRÍ TUỆ NHÂN TẠO HỖ TRỢ KIỂM TOÁN: ỨNG DỤNG HỌC SÂU VÀ XỬ LÝ NGÔN NGỮ TỰ NHIÊN</a:t>
            </a:r>
            <a:br>
              <a:rPr lang="en-US" sz="28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TRONG PHÁT HIỆN GIAN LẬN VÀ ĐÁNH GIÁ RỦI RO</a:t>
            </a:r>
            <a:endParaRPr dirty="0"/>
          </a:p>
        </p:txBody>
      </p:sp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812" y="5257800"/>
            <a:ext cx="9371012" cy="363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620712" y="5318125"/>
            <a:ext cx="94488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4656862" y="1901987"/>
            <a:ext cx="222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2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MSSV: 250101036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2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CS2205.CH201</a:t>
            </a:r>
            <a:endParaRPr dirty="0"/>
          </a:p>
        </p:txBody>
      </p:sp>
      <p:sp>
        <p:nvSpPr>
          <p:cNvPr id="108" name="Google Shape;108;p13"/>
          <p:cNvSpPr txBox="1"/>
          <p:nvPr/>
        </p:nvSpPr>
        <p:spPr>
          <a:xfrm>
            <a:off x="2089150" y="2720975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8195"/>
              </a:buClr>
              <a:buSzPts val="1200"/>
              <a:buFont typeface="Tahoma"/>
              <a:buNone/>
            </a:pPr>
            <a:r>
              <a:rPr lang="en-US" sz="1200" b="1" i="0" u="none">
                <a:solidFill>
                  <a:srgbClr val="098195"/>
                </a:solidFill>
                <a:latin typeface="Tahoma"/>
                <a:ea typeface="Tahoma"/>
                <a:cs typeface="Tahoma"/>
                <a:sym typeface="Tahoma"/>
              </a:rPr>
              <a:t>What ?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7051675" y="2720975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8195"/>
              </a:buClr>
              <a:buSzPts val="1200"/>
              <a:buFont typeface="Tahoma"/>
              <a:buNone/>
            </a:pPr>
            <a:r>
              <a:rPr lang="en-US" sz="1200" b="1" i="0" u="none">
                <a:solidFill>
                  <a:srgbClr val="098195"/>
                </a:solidFill>
                <a:latin typeface="Tahoma"/>
                <a:ea typeface="Tahoma"/>
                <a:cs typeface="Tahoma"/>
                <a:sym typeface="Tahoma"/>
              </a:rPr>
              <a:t>Why ?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2980116" y="1901987"/>
            <a:ext cx="2577404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Đoàn Thùy Linh</a:t>
            </a:r>
            <a:endParaRPr dirty="0"/>
          </a:p>
        </p:txBody>
      </p:sp>
      <p:sp>
        <p:nvSpPr>
          <p:cNvPr id="115" name="Google Shape;115;p13"/>
          <p:cNvSpPr txBox="1"/>
          <p:nvPr/>
        </p:nvSpPr>
        <p:spPr>
          <a:xfrm>
            <a:off x="1319212" y="14324012"/>
            <a:ext cx="890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r>
              <a:rPr lang="en-US" sz="13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300" b="1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Tên</a:t>
            </a:r>
            <a:r>
              <a:rPr lang="en-US" sz="13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13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giả</a:t>
            </a:r>
            <a:r>
              <a:rPr lang="en-US" sz="13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chính</a:t>
            </a:r>
            <a:r>
              <a:rPr lang="en-US" sz="1300" b="1" i="0" u="none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3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Trường </a:t>
            </a:r>
            <a:r>
              <a:rPr lang="en-US" sz="1300" b="1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Đại</a:t>
            </a:r>
            <a:r>
              <a:rPr lang="en-US" sz="13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học</a:t>
            </a:r>
            <a:endParaRPr dirty="0"/>
          </a:p>
          <a:p>
            <a:pPr marL="0" marR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TEL : *********	Email : *********</a:t>
            </a:r>
            <a:endParaRPr dirty="0"/>
          </a:p>
        </p:txBody>
      </p:sp>
      <p:grpSp>
        <p:nvGrpSpPr>
          <p:cNvPr id="116" name="Google Shape;116;p13"/>
          <p:cNvGrpSpPr/>
          <p:nvPr/>
        </p:nvGrpSpPr>
        <p:grpSpPr>
          <a:xfrm>
            <a:off x="976132" y="5681662"/>
            <a:ext cx="2298578" cy="354000"/>
            <a:chOff x="1313656" y="5809456"/>
            <a:chExt cx="2298578" cy="354000"/>
          </a:xfrm>
        </p:grpSpPr>
        <p:sp>
          <p:nvSpPr>
            <p:cNvPr id="117" name="Google Shape;117;p13"/>
            <p:cNvSpPr/>
            <p:nvPr/>
          </p:nvSpPr>
          <p:spPr>
            <a:xfrm>
              <a:off x="1313656" y="5809456"/>
              <a:ext cx="2166900" cy="354000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sy="23000" kx="-120009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"/>
                <a:buNone/>
              </a:pPr>
              <a:endParaRPr sz="2400" b="1" i="0" u="none" strike="noStrike" cap="non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1423194" y="5836444"/>
              <a:ext cx="218904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Module 1: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Phân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tích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Rủi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</a:t>
              </a:r>
              <a:endParaRPr lang="en-US" sz="12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4362806" y="5662711"/>
            <a:ext cx="2345612" cy="355593"/>
            <a:chOff x="4287400" y="5806281"/>
            <a:chExt cx="2345612" cy="354000"/>
          </a:xfrm>
        </p:grpSpPr>
        <p:sp>
          <p:nvSpPr>
            <p:cNvPr id="120" name="Google Shape;120;p13"/>
            <p:cNvSpPr/>
            <p:nvPr/>
          </p:nvSpPr>
          <p:spPr>
            <a:xfrm>
              <a:off x="4355306" y="5806281"/>
              <a:ext cx="2209800" cy="354000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sy="23000" kx="-120009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"/>
                <a:buNone/>
              </a:pPr>
              <a:endParaRPr sz="2400" b="1" i="0" u="none" strike="noStrike" cap="non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4287400" y="5836610"/>
              <a:ext cx="2345612" cy="275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Module 2: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Phát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hiện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Anomaly</a:t>
              </a:r>
              <a:endParaRPr dirty="0"/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7354888" y="5653186"/>
            <a:ext cx="2441574" cy="355593"/>
            <a:chOff x="4231482" y="5806281"/>
            <a:chExt cx="2441574" cy="354000"/>
          </a:xfrm>
        </p:grpSpPr>
        <p:sp>
          <p:nvSpPr>
            <p:cNvPr id="123" name="Google Shape;123;p13"/>
            <p:cNvSpPr/>
            <p:nvPr/>
          </p:nvSpPr>
          <p:spPr>
            <a:xfrm>
              <a:off x="4355306" y="5806281"/>
              <a:ext cx="2209800" cy="354000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sy="23000" kx="-120009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"/>
                <a:buNone/>
              </a:pPr>
              <a:endParaRPr sz="2400" b="1" i="0" u="none" strike="noStrike" cap="non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4231482" y="5820615"/>
              <a:ext cx="2441574" cy="275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Module 3: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Đánh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giá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Nhất</a:t>
              </a:r>
              <a:r>
                <a:rPr lang="en-US" sz="1200" b="0" i="0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 b="0" i="0" u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quán</a:t>
              </a:r>
              <a:endParaRPr lang="en-US" dirty="0"/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3744912" y="5729287"/>
            <a:ext cx="381000" cy="228600"/>
            <a:chOff x="3745706" y="5806281"/>
            <a:chExt cx="381000" cy="228600"/>
          </a:xfrm>
        </p:grpSpPr>
        <p:sp>
          <p:nvSpPr>
            <p:cNvPr id="126" name="Google Shape;126;p13"/>
            <p:cNvSpPr/>
            <p:nvPr/>
          </p:nvSpPr>
          <p:spPr>
            <a:xfrm>
              <a:off x="3898106" y="5806281"/>
              <a:ext cx="228600" cy="228600"/>
            </a:xfrm>
            <a:prstGeom prst="chevron">
              <a:avLst>
                <a:gd name="adj" fmla="val 108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745706" y="5806281"/>
              <a:ext cx="228600" cy="228600"/>
            </a:xfrm>
            <a:prstGeom prst="chevron">
              <a:avLst>
                <a:gd name="adj" fmla="val 108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8" name="Google Shape;128;p13"/>
          <p:cNvGrpSpPr/>
          <p:nvPr/>
        </p:nvGrpSpPr>
        <p:grpSpPr>
          <a:xfrm>
            <a:off x="6869112" y="5729287"/>
            <a:ext cx="381000" cy="228600"/>
            <a:chOff x="3745706" y="5806281"/>
            <a:chExt cx="381000" cy="228600"/>
          </a:xfrm>
        </p:grpSpPr>
        <p:sp>
          <p:nvSpPr>
            <p:cNvPr id="129" name="Google Shape;129;p13"/>
            <p:cNvSpPr/>
            <p:nvPr/>
          </p:nvSpPr>
          <p:spPr>
            <a:xfrm>
              <a:off x="3898106" y="5806281"/>
              <a:ext cx="228600" cy="228600"/>
            </a:xfrm>
            <a:prstGeom prst="chevron">
              <a:avLst>
                <a:gd name="adj" fmla="val 108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745706" y="5806281"/>
              <a:ext cx="228600" cy="228600"/>
            </a:xfrm>
            <a:prstGeom prst="chevron">
              <a:avLst>
                <a:gd name="adj" fmla="val 108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431" name="Google Shape;431;p13"/>
          <p:cNvSpPr txBox="1"/>
          <p:nvPr/>
        </p:nvSpPr>
        <p:spPr>
          <a:xfrm>
            <a:off x="5721514" y="3012892"/>
            <a:ext cx="4267200" cy="229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Thách thức: Phát hiện gian lận tài chính phụ thuộc vào: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Dữ liệu tốn kém và khó gán nhãn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Mất cân bằng dữ liệu nghiêm trọng (fraud ~5%)</a:t>
            </a: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Hạn chế của mô hình hiện tại: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Nghiên cứu tập trung vào hình ảnh tĩnh hơn là dữ liệu video thời gian thực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Thiếu tích hợp toàn diện: văn bản + giao dịch + mạng quan hệ + chứng từ</a:t>
            </a: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Tác động thực tiễn: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Nâng cao khả năng của AI cho các ứng dụng thực tế như giám sát an ninh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46% doanh nghiệp toàn cầu gặp gian lận (thiệt hại TB: 42 triệu USD)</a:t>
            </a:r>
            <a:endParaRPr sz="1200" dirty="0"/>
          </a:p>
        </p:txBody>
      </p:sp>
      <p:sp>
        <p:nvSpPr>
          <p:cNvPr id="433" name="Google Shape;433;p13"/>
          <p:cNvSpPr txBox="1"/>
          <p:nvPr/>
        </p:nvSpPr>
        <p:spPr>
          <a:xfrm>
            <a:off x="620712" y="3090862"/>
            <a:ext cx="42672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Giới thiệu: Phát triển hệ thống AI tích hợp để hỗ trợ quy trình kiểm toán theo ISA, áp dụng Deep Learning và NLP.</a:t>
            </a:r>
          </a:p>
          <a:p>
            <a:pPr marL="34290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Bối cảnh:</a:t>
            </a:r>
            <a:r>
              <a:rPr lang="en-US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lang="vi-VN" sz="11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714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Kiểm toán bao gồm 3 giai đoạn: Lập kế hoạch, Thực hiện, Kết thúc</a:t>
            </a:r>
          </a:p>
          <a:p>
            <a:pPr marL="1714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Phương pháp truyền thống: lấy mẫu, kiểm tra thủ công - tốn thời gian, dễ bỏ sót</a:t>
            </a:r>
          </a:p>
          <a:p>
            <a:pPr marL="34290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Giải pháp:</a:t>
            </a:r>
          </a:p>
          <a:p>
            <a:pPr marL="1714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Sử dụng bộ nhớ văn bản bên ngoài để truy xuất kiến thức</a:t>
            </a:r>
          </a:p>
          <a:p>
            <a:pPr marL="1714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vi-VN" sz="11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Đảm bảo độ chính xác và kết quả có thể giải thích</a:t>
            </a:r>
            <a:endParaRPr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8B46D-6BB8-7A5D-86B7-8FA545CE086A}"/>
              </a:ext>
            </a:extLst>
          </p:cNvPr>
          <p:cNvSpPr txBox="1"/>
          <p:nvPr/>
        </p:nvSpPr>
        <p:spPr>
          <a:xfrm>
            <a:off x="-208345" y="6132562"/>
            <a:ext cx="4734046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FinBERT phân tích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MD&amp;A và thuyết minh BCTC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F1-score: 0.89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Phát hiện red flags</a:t>
            </a:r>
          </a:p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GCN phân tích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mạng quan hệ bất thường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🕸️ </a:t>
            </a: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AUC-ROC: 0.9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E9C19-899C-8D24-39CF-F833C0976982}"/>
              </a:ext>
            </a:extLst>
          </p:cNvPr>
          <p:cNvSpPr txBox="1"/>
          <p:nvPr/>
        </p:nvSpPr>
        <p:spPr>
          <a:xfrm>
            <a:off x="2618480" y="6121313"/>
            <a:ext cx="5451676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LSTM-Autoencoder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phát hiện giao dịch bất thường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⚡ Precision: 0.90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📈 </a:t>
            </a: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Recall: 0.85</a:t>
            </a:r>
          </a:p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ResNet-50 + Spatial Attention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phân tích chứng từ</a:t>
            </a:r>
            <a:b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📄 </a:t>
            </a:r>
            <a:r>
              <a:rPr lang="vi-VN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Accuracy: 0.92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E321C-2C77-4717-13ED-331BAE70F0E5}"/>
              </a:ext>
            </a:extLst>
          </p:cNvPr>
          <p:cNvSpPr txBox="1"/>
          <p:nvPr/>
        </p:nvSpPr>
        <p:spPr>
          <a:xfrm>
            <a:off x="5819674" y="6141878"/>
            <a:ext cx="5451676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Bi-LSTM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mã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hóa</a:t>
            </a:r>
            <a:b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ngữ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nghĩa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BCTC</a:t>
            </a:r>
            <a:b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🎯 F1-score: 0.87</a:t>
            </a:r>
            <a:b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⏱️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60%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gian</a:t>
            </a:r>
            <a:endParaRPr lang="en-US" i="0" dirty="0">
              <a:solidFill>
                <a:srgbClr val="424242"/>
              </a:solidFill>
              <a:effectLst/>
              <a:latin typeface="Arial" panose="020B0604020202020204" pitchFamily="34" charset="0"/>
            </a:endParaRPr>
          </a:p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Cross-Encoder so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sánh</a:t>
            </a:r>
            <a:b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và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thuyết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minh</a:t>
            </a:r>
            <a:b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✓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mâu</a:t>
            </a:r>
            <a:r>
              <a:rPr lang="en-US" i="0" dirty="0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</a:rPr>
              <a:t>thuẫn</a:t>
            </a:r>
            <a:endParaRPr lang="en-US" i="0" dirty="0">
              <a:solidFill>
                <a:srgbClr val="42424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BEBD16-F59A-85F9-07F7-92EA4E768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66" y="8543680"/>
            <a:ext cx="2930493" cy="2649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89A1AE-92A9-FD7F-B082-AB045DB6F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228" y="8563217"/>
            <a:ext cx="2617297" cy="2630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BFE310-1A58-9146-8359-DEFB92B267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067" y="11252437"/>
            <a:ext cx="4955910" cy="27992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C3A420-DF25-7D76-D91A-EE505C1B6F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400" y="8522789"/>
            <a:ext cx="3912440" cy="26788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4393C2-823D-C2EF-D2DF-D9D03267B4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6217" y="11252437"/>
            <a:ext cx="4627295" cy="16536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D5F7DC-58A3-6C5E-0F21-B6E7962ECB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7520" y="12497702"/>
            <a:ext cx="4665992" cy="1531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Tahoma</vt:lpstr>
      <vt:lpstr>Times</vt:lpstr>
      <vt:lpstr>Calibri</vt:lpstr>
      <vt:lpstr>Arial</vt:lpstr>
      <vt:lpstr>新しいプレゼンテーション</vt:lpstr>
      <vt:lpstr>HỆ THỐNG TRÍ TUỆ NHÂN TẠO HỖ TRỢ KIỂM TOÁN: ỨNG DỤNG HỌC SÂU VÀ XỬ LÝ NGÔN NGỮ TỰ NHIÊN TRONG PHÁT HIỆN GIAN LẬN VÀ ĐÁNH GIÁ RỦI 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Thuy Linh Doan</cp:lastModifiedBy>
  <cp:revision>1</cp:revision>
  <dcterms:modified xsi:type="dcterms:W3CDTF">2026-01-18T09:24:20Z</dcterms:modified>
</cp:coreProperties>
</file>