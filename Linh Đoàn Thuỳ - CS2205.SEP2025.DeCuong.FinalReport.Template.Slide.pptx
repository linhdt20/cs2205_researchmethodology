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0d8a3913ea_0_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0d8a3913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0d8a3913ea_0_6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0d8a3913e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5fe14d3b49_0_3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5fe14d3b4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0d8a3913ea_0_1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10d8a3913e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0d8a3913ea_0_12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0d8a3913e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0d8a3913ea_0_13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0d8a3913ea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d8a3913ea_0_13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10d8a3913ea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R0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R01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R01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 flipH="1" rot="10800000">
            <a:off x="0" y="728400"/>
            <a:ext cx="9144000" cy="408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0" y="711888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68300" lvl="0" marL="4572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Char char="●"/>
              <a:defRPr sz="2200">
                <a:solidFill>
                  <a:srgbClr val="000000"/>
                </a:solidFill>
              </a:defRPr>
            </a:lvl1pPr>
            <a:lvl2pPr indent="-355600" lvl="1" marL="914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○"/>
              <a:defRPr sz="2000">
                <a:solidFill>
                  <a:srgbClr val="000000"/>
                </a:solidFill>
              </a:defRPr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■"/>
              <a:defRPr sz="1800">
                <a:solidFill>
                  <a:srgbClr val="000000"/>
                </a:solidFill>
              </a:defRPr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Char char="●"/>
              <a:defRPr sz="1600">
                <a:solidFill>
                  <a:srgbClr val="000000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  <a:defRPr>
                <a:solidFill>
                  <a:srgbClr val="000000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  <a:defRPr>
                <a:solidFill>
                  <a:srgbClr val="000000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  <a:defRPr>
                <a:solidFill>
                  <a:srgbClr val="000000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523550" y="4813799"/>
            <a:ext cx="548700" cy="2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4"/>
          <p:cNvSpPr txBox="1"/>
          <p:nvPr/>
        </p:nvSpPr>
        <p:spPr>
          <a:xfrm>
            <a:off x="471900" y="4803525"/>
            <a:ext cx="8133300" cy="29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UIT.CS2205.ResearchMethodology</a:t>
            </a:r>
            <a:endParaRPr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" name="Google Shape;4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 txBox="1"/>
          <p:nvPr>
            <p:ph idx="1" type="body"/>
          </p:nvPr>
        </p:nvSpPr>
        <p:spPr>
          <a:xfrm>
            <a:off x="57150" y="41634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title"/>
          </p:nvPr>
        </p:nvSpPr>
        <p:spPr>
          <a:xfrm>
            <a:off x="460950" y="10199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HỆ THỐNG TRÍ TUỆ NHÂN TẠO HỖ TRỢ KIỂM TOÁN</a:t>
            </a:r>
            <a:endParaRPr b="1"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ỨNG DỤNG HỌC SÂU VÀ XỬ LÝ NGÔN NGỮ TỰ NHIÊN</a:t>
            </a:r>
            <a:endParaRPr b="1" sz="2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/>
              <a:t>TRONG PHÁT HIỆN GIAN LẬN VÀ ĐÁNH GIÁ RỦI RO</a:t>
            </a:r>
            <a:endParaRPr b="1" sz="2100"/>
          </a:p>
        </p:txBody>
      </p:sp>
      <p:sp>
        <p:nvSpPr>
          <p:cNvPr id="67" name="Google Shape;67;p13"/>
          <p:cNvSpPr txBox="1"/>
          <p:nvPr>
            <p:ph type="title"/>
          </p:nvPr>
        </p:nvSpPr>
        <p:spPr>
          <a:xfrm>
            <a:off x="2203875" y="2490300"/>
            <a:ext cx="52404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Đoàn Thùy Linh - 250101036</a:t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Lớp: CS2205.CH201</a:t>
            </a:r>
            <a:endParaRPr b="1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Tóm tắt </a:t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Lớp: CS2205.CH201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Font typeface="Arial"/>
              <a:buChar char="●"/>
            </a:pPr>
            <a:r>
              <a:rPr lang="en"/>
              <a:t>Link Github của nhóm: https://github.com/linhdt20/CS2205_ResearchMethodology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"/>
              <a:t>Đoàn Thùy Linh - 250101036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Giới thiệu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Khoảng trống nghiên cứu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●	Nghiên cứu hiện tại: chưa tích hợp vào quy trình kiểm toán hoàn chỉnh mà chỉ tập trung phát hiện gian lận đơn lẻ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●	Mô hình đơn giản: chỉ dùng Logistic Regression, Decision Tree với đặc trưng thủ công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●	Thiếu tích hợp: phân tích văn bản thuyết minh + phát hiện anomaly giao dịch + phân tích mạng quan hệ + xử lý chứng từ số hóa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Mục tiêu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Mục tiêu 1: Đánh giá Rủi ro tức thì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Mục tiêu 2: Kiểm tra Chi tiết toàn bộ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Mục tiêu 3: </a:t>
            </a:r>
            <a:r>
              <a:rPr lang="en"/>
              <a:t>Kiểm tr</a:t>
            </a:r>
            <a:r>
              <a:rPr lang="en"/>
              <a:t>a Nhất quán 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Nội dung và Phương pháp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1. ĐẦU VÀO (INPUT &amp; DATA)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Dữ liệu lớn: 15.000 BCTC (2015-2024) + 50 triệu dòng giao dịch + 200.000 ảnh chứng từ.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Cơ sở pháp lý: Chuẩn mực kiểm toán (ISA 240, 315, 500) &amp; Các dấu hiệu gian lận tài chính.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Xử lý: Làm sạch dữ liệu, OCR tiếng Việt, SMOTE (cân bằng mẫu gian lận).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2. HỆ THỐNG LÕI (AI CORE SYSTEM)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Module 1 (Đánh giá rủi ro):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i="1" lang="en" sz="1100">
                <a:latin typeface="Arial"/>
                <a:ea typeface="Arial"/>
                <a:cs typeface="Arial"/>
                <a:sym typeface="Arial"/>
              </a:rPr>
              <a:t>FinBERT &amp; GCN (Graph):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Phân tích văn bản &amp; Đồ thị quan hệ =&gt; Phát hiện Red Flags &amp; Giao dịch vòng tròn.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Module 2 (Kiểm tra chi tiết):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i="1" lang="en" sz="1100">
                <a:latin typeface="Arial"/>
                <a:ea typeface="Arial"/>
                <a:cs typeface="Arial"/>
                <a:sym typeface="Arial"/>
              </a:rPr>
              <a:t>LSTM-Autoencoder &amp; ResNet: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Tái tạo chuỗi thời gian &amp; Xử lý ảnh =&gt; Phát hiện Bất thường &amp; Chứng từ giả.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Module 3 (Đối chiếu tổng hợp):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i="1" lang="en" sz="1100">
                <a:latin typeface="Arial"/>
                <a:ea typeface="Arial"/>
                <a:cs typeface="Arial"/>
                <a:sym typeface="Arial"/>
              </a:rPr>
              <a:t>Cross-Encoder (Bi-LSTM):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So khớp BCTC và Thuyết minh =&gt; Phát hiện Mâu thuẫn (Số liệu &gt;&lt; Giải trình).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3. THỰC NGHIỆM &amp; ĐÁNH GIÁ (EVALUATION)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Công nghệ: PyTorch/TensorFlow trên GPU A100.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Đánh giá: F1-Score, AUC-ROC, Ma trận nhầm lẫn (Confusion Matrix).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Ứng dụng: Pilot tại Big4 Audit Firms =&gt; So sánh hiệu suất với kiểm toán thủ công.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Kết quả dự kiến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Về kỹ thuật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●	Hệ thống hoàn chỉnh với API, dashboard, báo cáo tự động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●	F1-score ≥ 0.87-0.92 trên ba module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●	Xử lý 10,000 giao dịch/giây, real-time anomaly detection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●	False positive &lt; 10%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Về ứng dụng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●	Giảm 60-65% thời gian kiểm toán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●	Phát hiện sớm rủi ro chưa được nhận diện bằng phương pháp truyền thống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●	Nâng cao chất lượng audit judgment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Arial"/>
                <a:ea typeface="Arial"/>
                <a:cs typeface="Arial"/>
                <a:sym typeface="Arial"/>
              </a:rPr>
              <a:t>●	Khung triển khai cho công ty kiểm toán Việt Nam</a:t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471900" y="57875"/>
            <a:ext cx="8222100" cy="67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Tài liệu tham khảo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71900" y="820500"/>
            <a:ext cx="8222100" cy="390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[1] Bao, Y., Ke, B., Li, B., Yu, Y. J., Zhang, J. (2020). Detecting Accounting Fraud in Publicly Traded U.S. Firms Using a Machine Learning Approach. Journal of Accounting Research, 58(1), 199-235. https://doi.org/10.1111/1475-679X.12292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[2] Cecchini, M., Aytug, H., Koehler, G. J., Pathak, P. (2010). Detecting Management Fraud in Public Companies. Management Science, 56(7), 1146-1160. https://doi.org/10.1287/mnsc.1100.1174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[3] Perols, J. (2011). Financial Statement Fraud Detection: An Analysis of Statistical and Machine Learning Algorithms. Auditing: A Journal of Practice &amp; Theory, 30(2), 19-50. https://doi.org/10.2308/ajpt-50009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[4] Arora, S., Liang, Y., Ma, T. (2017). A Simple but Tough-to-Beat Baseline for Sentence Embeddings. ICLR 2017.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[5] Devlin, J., Chang, M. W., Lee, K., Toutanova, K. (2019). BERT: Pre-training of Deep Bidirectional Transformers for Language Understanding. NAACL-HLT 2019, 4171-4186.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[6] Huang, Z., Xu, W., Yu, K. (2015). Bidirectional LSTM-CRF Models for Sequence Tagging. arXiv:1508.01991.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[7] Kipf, T. N., Welling, M. (2017). Semi-Supervised Classification with Graph Convolutional Networks. ICLR 2017.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[8] Liu, F. T., Ting, K. M., Zhou, Z. H. (2008). Isolation Forest. ICDM 2008, 413-422. https://doi.org/10.1109/ICDM.2008.17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[9] Maldonado, S., Peters, G., Weber, R. (2020). Credit Scoring Using Three-Way Decisions with Probabilistic Rough Sets. Information Sciences, 507, 700-714.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[10] Ngai, E. W. T., Hu, Y., Wong, Y. H., Chen, Y., Sun, X. (2011). The Application of Data Mining Techniques in Financial Fraud Detection: A Classification Framework and an Academic Review of Literature. Decision Support Systems, 50(3), 559-569. https://doi.org/10.1016/j.dss.2010.08.006</a:t>
            </a:r>
            <a:endParaRPr sz="10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 - R01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